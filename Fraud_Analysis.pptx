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Fraud Rate by Age Group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FA-45A2-9615-376A07E47AA0}"/>
              </c:ext>
            </c:extLst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FA-45A2-9615-376A07E47AA0}"/>
              </c:ext>
            </c:extLst>
          </c:dPt>
          <c:dPt>
            <c:idx val="2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FA-45A2-9615-376A07E47AA0}"/>
              </c:ext>
            </c:extLst>
          </c:dPt>
          <c:dPt>
            <c:idx val="3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5FA-45A2-9615-376A07E47AA0}"/>
              </c:ext>
            </c:extLst>
          </c:dPt>
          <c:dPt>
            <c:idx val="4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5FA-45A2-9615-376A07E47AA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65+</c:v>
                </c:pt>
                <c:pt idx="1">
                  <c:v>26-35</c:v>
                </c:pt>
                <c:pt idx="2">
                  <c:v>51-65</c:v>
                </c:pt>
                <c:pt idx="3">
                  <c:v>36-50</c:v>
                </c:pt>
                <c:pt idx="4">
                  <c:v>18-25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6.75</c:v>
                </c:pt>
                <c:pt idx="1">
                  <c:v>2.33</c:v>
                </c:pt>
                <c:pt idx="2">
                  <c:v>2.2999999999999998</c:v>
                </c:pt>
                <c:pt idx="3">
                  <c:v>2.21</c:v>
                </c:pt>
                <c:pt idx="4">
                  <c:v>1.96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5FA-45A2-9615-376A07E47AA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2E8F0"/>
                </a:solidFill>
                <a:latin typeface="Arial"/>
              </a:rPr>
              <a:t>Fraud Rate by Branch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37E-49B9-B136-B23D27F8C59A}"/>
              </c:ext>
            </c:extLst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7E-49B9-B136-B23D27F8C59A}"/>
              </c:ext>
            </c:extLst>
          </c:dPt>
          <c:dPt>
            <c:idx val="2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7E-49B9-B136-B23D27F8C59A}"/>
              </c:ext>
            </c:extLst>
          </c:dPt>
          <c:dPt>
            <c:idx val="3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7E-49B9-B136-B23D27F8C59A}"/>
              </c:ext>
            </c:extLst>
          </c:dPt>
          <c:dPt>
            <c:idx val="4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37E-49B9-B136-B23D27F8C5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Salem Branch</c:v>
                </c:pt>
                <c:pt idx="1">
                  <c:v>Nampa Branch</c:v>
                </c:pt>
                <c:pt idx="2">
                  <c:v>Miami Branch</c:v>
                </c:pt>
                <c:pt idx="3">
                  <c:v>Spokane Branch</c:v>
                </c:pt>
                <c:pt idx="4">
                  <c:v>Honolulu Branch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7.78</c:v>
                </c:pt>
                <c:pt idx="1">
                  <c:v>6.55</c:v>
                </c:pt>
                <c:pt idx="2">
                  <c:v>6.5</c:v>
                </c:pt>
                <c:pt idx="3">
                  <c:v>6.48</c:v>
                </c:pt>
                <c:pt idx="4">
                  <c:v>6.42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37E-49B9-B136-B23D27F8C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.5"/>
          <c:min val="5.5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E2E8F0"/>
                </a:solidFill>
                <a:latin typeface="Arial"/>
              </a:rPr>
              <a:t>Fraud Rate by State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2D-438E-8E1E-F14FF1889408}"/>
              </c:ext>
            </c:extLst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2D-438E-8E1E-F14FF1889408}"/>
              </c:ext>
            </c:extLst>
          </c:dPt>
          <c:dPt>
            <c:idx val="2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2D-438E-8E1E-F14FF1889408}"/>
              </c:ext>
            </c:extLst>
          </c:dPt>
          <c:dPt>
            <c:idx val="3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2D-438E-8E1E-F14FF1889408}"/>
              </c:ext>
            </c:extLst>
          </c:dPt>
          <c:dPt>
            <c:idx val="4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2D-438E-8E1E-F14FF18894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Oregon</c:v>
                </c:pt>
                <c:pt idx="1">
                  <c:v>New York</c:v>
                </c:pt>
                <c:pt idx="2">
                  <c:v>Idaho</c:v>
                </c:pt>
                <c:pt idx="3">
                  <c:v>New Jersey</c:v>
                </c:pt>
                <c:pt idx="4">
                  <c:v>Kansas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5.5</c:v>
                </c:pt>
                <c:pt idx="1">
                  <c:v>4.76</c:v>
                </c:pt>
                <c:pt idx="2">
                  <c:v>4.7</c:v>
                </c:pt>
                <c:pt idx="3">
                  <c:v>4.63</c:v>
                </c:pt>
                <c:pt idx="4">
                  <c:v>4.3899999999999997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2D-438E-8E1E-F14FF18894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.5"/>
          <c:min val="3.5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2E8F0"/>
                </a:solidFill>
                <a:latin typeface="Arial"/>
              </a:rPr>
              <a:t>Total Fraud by Transaction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58A-4D54-B7FE-8712C07138A2}"/>
              </c:ext>
            </c:extLst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58A-4D54-B7FE-8712C07138A2}"/>
              </c:ext>
            </c:extLst>
          </c:dPt>
          <c:dPt>
            <c:idx val="2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58A-4D54-B7FE-8712C07138A2}"/>
              </c:ext>
            </c:extLst>
          </c:dPt>
          <c:dPt>
            <c:idx val="3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58A-4D54-B7FE-8712C07138A2}"/>
              </c:ext>
            </c:extLst>
          </c:dPt>
          <c:dPt>
            <c:idx val="4"/>
            <c:invertIfNegative val="0"/>
            <c:bubble3D val="0"/>
            <c:spPr>
              <a:solidFill>
                <a:srgbClr val="2C7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58A-4D54-B7FE-8712C07138A2}"/>
              </c:ext>
            </c:extLst>
          </c:dPt>
          <c:dPt>
            <c:idx val="5"/>
            <c:invertIfNegative val="0"/>
            <c:bubble3D val="0"/>
            <c:spPr>
              <a:solidFill>
                <a:srgbClr val="2C7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58A-4D54-B7FE-8712C07138A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Wire Transfer</c:v>
                </c:pt>
                <c:pt idx="1">
                  <c:v>Foreign Transac.</c:v>
                </c:pt>
                <c:pt idx="2">
                  <c:v>ATM Withdrawal</c:v>
                </c:pt>
                <c:pt idx="3">
                  <c:v>Peer Transfer</c:v>
                </c:pt>
                <c:pt idx="4">
                  <c:v>Bill Payment</c:v>
                </c:pt>
                <c:pt idx="5">
                  <c:v>Luxury Goods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</c:v>
                </c:pt>
                <c:pt idx="1">
                  <c:v>272</c:v>
                </c:pt>
                <c:pt idx="2">
                  <c:v>63</c:v>
                </c:pt>
                <c:pt idx="3">
                  <c:v>54</c:v>
                </c:pt>
                <c:pt idx="4">
                  <c:v>48</c:v>
                </c:pt>
                <c:pt idx="5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58A-4D54-B7FE-8712C07138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2E8F0"/>
                </a:solidFill>
                <a:latin typeface="Arial"/>
              </a:rPr>
              <a:t>Total Fraud by Device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Cases</c:v>
                </c:pt>
              </c:strCache>
            </c:strRef>
          </c:tx>
          <c:spPr>
            <a:solidFill>
              <a:srgbClr val="E53E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1B-4FDB-904D-A0D407A2CBDA}"/>
              </c:ext>
            </c:extLst>
          </c:dPt>
          <c:dPt>
            <c:idx val="1"/>
            <c:invertIfNegative val="0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51B-4FDB-904D-A0D407A2CBDA}"/>
              </c:ext>
            </c:extLst>
          </c:dPt>
          <c:dPt>
            <c:idx val="2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51B-4FDB-904D-A0D407A2CBDA}"/>
              </c:ext>
            </c:extLst>
          </c:dPt>
          <c:dPt>
            <c:idx val="3"/>
            <c:invertIfNegative val="0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51B-4FDB-904D-A0D407A2CBDA}"/>
              </c:ext>
            </c:extLst>
          </c:dPt>
          <c:dPt>
            <c:idx val="4"/>
            <c:invertIfNegative val="0"/>
            <c:bubble3D val="0"/>
            <c:spPr>
              <a:solidFill>
                <a:srgbClr val="2C7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51B-4FDB-904D-A0D407A2CBD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Mobile App</c:v>
                </c:pt>
                <c:pt idx="1">
                  <c:v>Web Browser</c:v>
                </c:pt>
                <c:pt idx="2">
                  <c:v>POS Terminal</c:v>
                </c:pt>
                <c:pt idx="3">
                  <c:v>ATM</c:v>
                </c:pt>
                <c:pt idx="4">
                  <c:v>Phone Banking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548</c:v>
                </c:pt>
                <c:pt idx="1">
                  <c:v>340</c:v>
                </c:pt>
                <c:pt idx="2">
                  <c:v>208</c:v>
                </c:pt>
                <c:pt idx="3">
                  <c:v>167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1B-4FDB-904D-A0D407A2CB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E2E8F0"/>
                </a:solidFill>
                <a:latin typeface="Arial"/>
              </a:rPr>
              <a:t>Fraud Rate by Time of Day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by Time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BE9-45EE-AF90-159C15E560D7}"/>
              </c:ext>
            </c:extLst>
          </c:dPt>
          <c:dPt>
            <c:idx val="1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E9-45EE-AF90-159C15E560D7}"/>
              </c:ext>
            </c:extLst>
          </c:dPt>
          <c:dPt>
            <c:idx val="2"/>
            <c:bubble3D val="0"/>
            <c:spPr>
              <a:solidFill>
                <a:srgbClr val="553C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BE9-45EE-AF90-159C15E560D7}"/>
              </c:ext>
            </c:extLst>
          </c:dPt>
          <c:dPt>
            <c:idx val="3"/>
            <c:bubble3D val="0"/>
            <c:spPr>
              <a:solidFill>
                <a:srgbClr val="D53F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BE9-45EE-AF90-159C15E560D7}"/>
              </c:ext>
            </c:extLst>
          </c:dPt>
          <c:dPt>
            <c:idx val="4"/>
            <c:bubble3D val="0"/>
            <c:spPr>
              <a:solidFill>
                <a:srgbClr val="D69E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BE9-45EE-AF90-159C15E560D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E9-45EE-AF90-159C15E560D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BE9-45EE-AF90-159C15E560D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BE9-45EE-AF90-159C15E560D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BE9-45EE-AF90-159C15E560D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BE9-45EE-AF90-159C15E560D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Evening 21.18%</c:v>
                </c:pt>
                <c:pt idx="1">
                  <c:v>Afternoon 20.27%</c:v>
                </c:pt>
                <c:pt idx="2">
                  <c:v>Midnight 19.67%</c:v>
                </c:pt>
                <c:pt idx="3">
                  <c:v>Night 19.58%</c:v>
                </c:pt>
                <c:pt idx="4">
                  <c:v>Morning 19.30%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21.18</c:v>
                </c:pt>
                <c:pt idx="1">
                  <c:v>20.27</c:v>
                </c:pt>
                <c:pt idx="2">
                  <c:v>19.670000000000002</c:v>
                </c:pt>
                <c:pt idx="3">
                  <c:v>19.579999999999998</c:v>
                </c:pt>
                <c:pt idx="4">
                  <c:v>19.3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BE9-45EE-AF90-159C15E560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61B22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800">
              <a:solidFill>
                <a:srgbClr val="71809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r>
              <a:rPr lang="en-GB" sz="1200" b="0" i="0" u="none" strike="noStrike">
                <a:solidFill>
                  <a:srgbClr val="E2E8F0"/>
                </a:solidFill>
                <a:latin typeface="Arial"/>
              </a:rPr>
              <a:t>Fraud Rate by Gender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Fraud by 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7A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BD6-4974-A083-D1B559E2087E}"/>
              </c:ext>
            </c:extLst>
          </c:dPt>
          <c:dPt>
            <c:idx val="1"/>
            <c:bubble3D val="0"/>
            <c:spPr>
              <a:solidFill>
                <a:srgbClr val="DD6B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BD6-4974-A083-D1B559E2087E}"/>
              </c:ext>
            </c:extLst>
          </c:dPt>
          <c:dPt>
            <c:idx val="2"/>
            <c:bubble3D val="0"/>
            <c:spPr>
              <a:solidFill>
                <a:srgbClr val="553C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BD6-4974-A083-D1B559E2087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BD6-4974-A083-D1B559E2087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BD6-4974-A083-D1B559E2087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LID4096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BD6-4974-A083-D1B559E2087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 34.13%</c:v>
                </c:pt>
                <c:pt idx="1">
                  <c:v>Non-binary 34.3%</c:v>
                </c:pt>
                <c:pt idx="2">
                  <c:v>Female 31.57%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34.130000000000003</c:v>
                </c:pt>
                <c:pt idx="1">
                  <c:v>34.299999999999997</c:v>
                </c:pt>
                <c:pt idx="2">
                  <c:v>31.57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BD6-4974-A083-D1B559E208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161B2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1809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Rate (%)</c:v>
                </c:pt>
              </c:strCache>
            </c:strRef>
          </c:tx>
          <c:spPr>
            <a:ln w="31750" cap="flat">
              <a:solidFill>
                <a:srgbClr val="D69E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9E2E"/>
              </a:solidFill>
              <a:ln w="9525" cap="flat">
                <a:solidFill>
                  <a:srgbClr val="D69E2E"/>
                </a:solidFill>
                <a:prstDash val="solid"/>
                <a:round/>
              </a:ln>
              <a:effectLst/>
            </c:spPr>
          </c:marker>
          <c:cat>
            <c:strRef>
              <c:f>Sheet1!$A$2:$A$26</c:f>
              <c:strCache>
                <c:ptCount val="25"/>
                <c:pt idx="0">
                  <c:v>Jan-23</c:v>
                </c:pt>
                <c:pt idx="1">
                  <c:v>Feb-23</c:v>
                </c:pt>
                <c:pt idx="2">
                  <c:v>Mar-23</c:v>
                </c:pt>
                <c:pt idx="3">
                  <c:v>Apr-23</c:v>
                </c:pt>
                <c:pt idx="4">
                  <c:v>May-23</c:v>
                </c:pt>
                <c:pt idx="5">
                  <c:v>Jun-23</c:v>
                </c:pt>
                <c:pt idx="6">
                  <c:v>Jul-23</c:v>
                </c:pt>
                <c:pt idx="7">
                  <c:v>Aug-23</c:v>
                </c:pt>
                <c:pt idx="8">
                  <c:v>Sep-23</c:v>
                </c:pt>
                <c:pt idx="9">
                  <c:v>Oct-23</c:v>
                </c:pt>
                <c:pt idx="10">
                  <c:v>Nov-23</c:v>
                </c:pt>
                <c:pt idx="11">
                  <c:v>Dec-23</c:v>
                </c:pt>
                <c:pt idx="12">
                  <c:v>Jan-24</c:v>
                </c:pt>
                <c:pt idx="13">
                  <c:v>Feb-24</c:v>
                </c:pt>
                <c:pt idx="14">
                  <c:v>Mar-24</c:v>
                </c:pt>
                <c:pt idx="15">
                  <c:v>Apr-24</c:v>
                </c:pt>
                <c:pt idx="16">
                  <c:v>May-24</c:v>
                </c:pt>
                <c:pt idx="17">
                  <c:v>Jun-24</c:v>
                </c:pt>
                <c:pt idx="18">
                  <c:v>Jul-24</c:v>
                </c:pt>
                <c:pt idx="19">
                  <c:v>Aug-24</c:v>
                </c:pt>
                <c:pt idx="20">
                  <c:v>Sep-24</c:v>
                </c:pt>
                <c:pt idx="21">
                  <c:v>Oct-24</c:v>
                </c:pt>
                <c:pt idx="22">
                  <c:v>Nov-24</c:v>
                </c:pt>
                <c:pt idx="23">
                  <c:v>Dec-24</c:v>
                </c:pt>
                <c:pt idx="24">
                  <c:v>Jan-25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3.8</c:v>
                </c:pt>
                <c:pt idx="1">
                  <c:v>3.5</c:v>
                </c:pt>
                <c:pt idx="2">
                  <c:v>3.9</c:v>
                </c:pt>
                <c:pt idx="3">
                  <c:v>3.6</c:v>
                </c:pt>
                <c:pt idx="4">
                  <c:v>3.7</c:v>
                </c:pt>
                <c:pt idx="5">
                  <c:v>3.4</c:v>
                </c:pt>
                <c:pt idx="6">
                  <c:v>3.2</c:v>
                </c:pt>
                <c:pt idx="7">
                  <c:v>3.1</c:v>
                </c:pt>
                <c:pt idx="8">
                  <c:v>3.3</c:v>
                </c:pt>
                <c:pt idx="9">
                  <c:v>3.5</c:v>
                </c:pt>
                <c:pt idx="10">
                  <c:v>3.6</c:v>
                </c:pt>
                <c:pt idx="11">
                  <c:v>3.8</c:v>
                </c:pt>
                <c:pt idx="12">
                  <c:v>3.2</c:v>
                </c:pt>
                <c:pt idx="13">
                  <c:v>3</c:v>
                </c:pt>
                <c:pt idx="14">
                  <c:v>3.1</c:v>
                </c:pt>
                <c:pt idx="15">
                  <c:v>2.9</c:v>
                </c:pt>
                <c:pt idx="16">
                  <c:v>2.8</c:v>
                </c:pt>
                <c:pt idx="17">
                  <c:v>2.7</c:v>
                </c:pt>
                <c:pt idx="18">
                  <c:v>2.6</c:v>
                </c:pt>
                <c:pt idx="19">
                  <c:v>2.5</c:v>
                </c:pt>
                <c:pt idx="20">
                  <c:v>2.7</c:v>
                </c:pt>
                <c:pt idx="21">
                  <c:v>2.9</c:v>
                </c:pt>
                <c:pt idx="22">
                  <c:v>3.1</c:v>
                </c:pt>
                <c:pt idx="23">
                  <c:v>3.3</c:v>
                </c:pt>
                <c:pt idx="24">
                  <c:v>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33B-4C35-AE0F-5DE63D8A3B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3"/>
        <c:noMultiLvlLbl val="1"/>
      </c:catAx>
      <c:valAx>
        <c:axId val="2094734552"/>
        <c:scaling>
          <c:orientation val="minMax"/>
          <c:max val="5"/>
          <c:min val="2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1B2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718096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6337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E53E3E">
              <a:alpha val="10000"/>
            </a:srgbClr>
          </a:solidFill>
          <a:ln w="12700">
            <a:solidFill>
              <a:srgbClr val="E53E3E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7498080" y="457200"/>
            <a:ext cx="2286000" cy="2286000"/>
          </a:xfrm>
          <a:prstGeom prst="ellipse">
            <a:avLst/>
          </a:prstGeom>
          <a:solidFill>
            <a:srgbClr val="DD6B20">
              <a:alpha val="12000"/>
            </a:srgbClr>
          </a:solidFill>
          <a:ln w="12700">
            <a:solidFill>
              <a:srgbClr val="DD6B2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E53E3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kern="0" spc="4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REPORT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Jan 2025  |  Transactions · Demographics · Geography · Device ·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017520"/>
            <a:ext cx="1965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Shape 6"/>
          <p:cNvSpPr/>
          <p:nvPr/>
        </p:nvSpPr>
        <p:spPr>
          <a:xfrm>
            <a:off x="365760" y="3017520"/>
            <a:ext cx="196596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365760" y="3145536"/>
            <a:ext cx="1965960" cy="81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3.52%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40325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43708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3017520"/>
            <a:ext cx="1965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2514600" y="3017520"/>
            <a:ext cx="1965960" cy="5029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2514600" y="3145536"/>
            <a:ext cx="1965960" cy="81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1,335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14600" y="40325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Fraud Cases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514600" y="43708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fraud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1965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4663440" y="3017520"/>
            <a:ext cx="1965960" cy="5029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663440" y="3145536"/>
            <a:ext cx="1965960" cy="81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37.92K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663440" y="40325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43708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transactions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12280" y="3017520"/>
            <a:ext cx="196596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3" name="Shape 21"/>
          <p:cNvSpPr/>
          <p:nvPr/>
        </p:nvSpPr>
        <p:spPr>
          <a:xfrm>
            <a:off x="6812280" y="3017520"/>
            <a:ext cx="1965960" cy="5029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4" name="Text 22"/>
          <p:cNvSpPr/>
          <p:nvPr/>
        </p:nvSpPr>
        <p:spPr>
          <a:xfrm>
            <a:off x="6812280" y="3145536"/>
            <a:ext cx="1965960" cy="811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7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27.96M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12280" y="40325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($)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12280" y="43708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8" name="Text 26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· States · Age Groups · Gender · Device Types · Transaction Categories · Time Periods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fraud indicators across all branches and time periods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274320" y="104241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3.52%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1655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Fraud Rate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74320" y="1901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transactions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18688" y="91440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3218688" y="914400"/>
            <a:ext cx="2697480" cy="5029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218688" y="104241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1,335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18688" y="1655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Fraud Cases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18688" y="1901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incidents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63056" y="91440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6163056" y="914400"/>
            <a:ext cx="2697480" cy="5029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6163056" y="104241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37.92K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63056" y="165506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63056" y="19019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Jan 2025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33172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2697480" cy="5029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274320" y="245973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7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27.96M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74320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Amount ($)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3192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volume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18688" y="233172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3218688" y="2331720"/>
            <a:ext cx="269748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218688" y="245973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7.78%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3218688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Branch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18688" y="33192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 Branch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63056" y="233172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Shape 28"/>
          <p:cNvSpPr/>
          <p:nvPr/>
        </p:nvSpPr>
        <p:spPr>
          <a:xfrm>
            <a:off x="6163056" y="2331720"/>
            <a:ext cx="2697480" cy="5029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1" name="Text 29"/>
          <p:cNvSpPr/>
          <p:nvPr/>
        </p:nvSpPr>
        <p:spPr>
          <a:xfrm>
            <a:off x="6163056" y="245973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D6B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5.50%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6163056" y="307238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State Rate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331927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Oregon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74904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5" name="Shape 33"/>
          <p:cNvSpPr/>
          <p:nvPr/>
        </p:nvSpPr>
        <p:spPr>
          <a:xfrm>
            <a:off x="274320" y="3749040"/>
            <a:ext cx="2697480" cy="5029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6" name="Text 34"/>
          <p:cNvSpPr/>
          <p:nvPr/>
        </p:nvSpPr>
        <p:spPr>
          <a:xfrm>
            <a:off x="274320" y="387705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6.75%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274320" y="44897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Vulnerable Age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" y="47365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age group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18688" y="374904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0" name="Shape 38"/>
          <p:cNvSpPr/>
          <p:nvPr/>
        </p:nvSpPr>
        <p:spPr>
          <a:xfrm>
            <a:off x="3218688" y="3749040"/>
            <a:ext cx="2697480" cy="5029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1" name="Text 39"/>
          <p:cNvSpPr/>
          <p:nvPr/>
        </p:nvSpPr>
        <p:spPr>
          <a:xfrm>
            <a:off x="3218688" y="387705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7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548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3218688" y="44897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Device Fraud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218688" y="47365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63056" y="3749040"/>
            <a:ext cx="269748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45" name="Shape 43"/>
          <p:cNvSpPr/>
          <p:nvPr/>
        </p:nvSpPr>
        <p:spPr>
          <a:xfrm>
            <a:off x="6163056" y="3749040"/>
            <a:ext cx="269748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46" name="Text 44"/>
          <p:cNvSpPr/>
          <p:nvPr/>
        </p:nvSpPr>
        <p:spPr>
          <a:xfrm>
            <a:off x="6163056" y="3877056"/>
            <a:ext cx="2697480" cy="5925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312</a:t>
            </a:r>
            <a:endParaRPr lang="en-US" sz="3600" dirty="0"/>
          </a:p>
        </p:txBody>
      </p:sp>
      <p:sp>
        <p:nvSpPr>
          <p:cNvPr id="47" name="Text 45"/>
          <p:cNvSpPr/>
          <p:nvPr/>
        </p:nvSpPr>
        <p:spPr>
          <a:xfrm>
            <a:off x="6163056" y="4489704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Fraud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63056" y="47365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BY AGE GROUP &amp; BRANCH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varies significantly by customer age group and branch location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04672"/>
          <a:ext cx="420624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04672"/>
          <a:ext cx="420624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STATE &amp; TRANSACTION CATEGORY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concentration and transaction type breakdown of fraud incidents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04672"/>
          <a:ext cx="420624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804672"/>
          <a:ext cx="420624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BY DEVICE TYPE, TIME OF DAY &amp; GENDER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vulnerabilities, time distribution, and demographic split of fraud cases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04672"/>
          <a:ext cx="45720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274320" y="3291840"/>
          <a:ext cx="4114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5029200" y="804672"/>
          <a:ext cx="3840480" cy="4178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 TREND BY MONTH  ·  2023–2025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fraud rate fluctuations showing seasonal patterns and anomalies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6217920" cy="39867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841248"/>
            <a:ext cx="219456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Shape 3"/>
          <p:cNvSpPr/>
          <p:nvPr/>
        </p:nvSpPr>
        <p:spPr>
          <a:xfrm>
            <a:off x="6720840" y="841248"/>
            <a:ext cx="2194560" cy="5029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6720840" y="969264"/>
            <a:ext cx="21945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53E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4.0%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720840" y="153253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Peak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20840" y="1762963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the period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20840" y="2139696"/>
            <a:ext cx="219456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Shape 8"/>
          <p:cNvSpPr/>
          <p:nvPr/>
        </p:nvSpPr>
        <p:spPr>
          <a:xfrm>
            <a:off x="6720840" y="2139696"/>
            <a:ext cx="2194560" cy="5029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2" name="Text 9"/>
          <p:cNvSpPr/>
          <p:nvPr/>
        </p:nvSpPr>
        <p:spPr>
          <a:xfrm>
            <a:off x="6720840" y="2267712"/>
            <a:ext cx="21945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69E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2.5%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720840" y="283098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2024 Low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720840" y="3061411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recorded month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720840" y="3438144"/>
            <a:ext cx="2194560" cy="1152144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6" name="Shape 13"/>
          <p:cNvSpPr/>
          <p:nvPr/>
        </p:nvSpPr>
        <p:spPr>
          <a:xfrm>
            <a:off x="6720840" y="3438144"/>
            <a:ext cx="2194560" cy="5029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6720840" y="3566160"/>
            <a:ext cx="2194560" cy="553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7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−0.6pp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720840" y="412943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Avg Drop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20840" y="4359859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2023 average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720840" y="4663440"/>
            <a:ext cx="2194560" cy="457200"/>
          </a:xfrm>
          <a:prstGeom prst="rect">
            <a:avLst/>
          </a:prstGeom>
          <a:solidFill>
            <a:srgbClr val="1C2330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Text 18"/>
          <p:cNvSpPr/>
          <p:nvPr/>
        </p:nvSpPr>
        <p:spPr>
          <a:xfrm>
            <a:off x="6858000" y="470001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rates declined through mid-2024 then spiked sharply in Jan 2025, suggesting emerging new attack vectors.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headline findings from the fraud analysis dataset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56032" y="914400"/>
            <a:ext cx="4224528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54864" cy="12618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420624" y="100584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65+ age group has 3× the average fraud rate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1298448"/>
            <a:ext cx="3986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6.75%, seniors are targeted at nearly triple the overall 3.52% rate. Younger groups (18–25) sit at just 1.96%, a massive vulnerability gap across demographics.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224528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Shape 7"/>
          <p:cNvSpPr/>
          <p:nvPr/>
        </p:nvSpPr>
        <p:spPr>
          <a:xfrm>
            <a:off x="4709160" y="914400"/>
            <a:ext cx="54864" cy="126187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0" name="Text 8"/>
          <p:cNvSpPr/>
          <p:nvPr/>
        </p:nvSpPr>
        <p:spPr>
          <a:xfrm>
            <a:off x="4873752" y="100584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 Branch is the highest-risk location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73752" y="1298448"/>
            <a:ext cx="3986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 leads all branches at 7.78%, nearly 1.4× above the overall average. All top 5 branches cluster between 6.42%–7.78%, suggesting systemic branch-level vulnerabilities.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" y="2331720"/>
            <a:ext cx="4224528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3" name="Shape 11"/>
          <p:cNvSpPr/>
          <p:nvPr/>
        </p:nvSpPr>
        <p:spPr>
          <a:xfrm>
            <a:off x="256032" y="2331720"/>
            <a:ext cx="54864" cy="126187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4" name="Text 12"/>
          <p:cNvSpPr/>
          <p:nvPr/>
        </p:nvSpPr>
        <p:spPr>
          <a:xfrm>
            <a:off x="420624" y="242316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 &amp; Foreign Transactions dominate fraud cases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2715768"/>
            <a:ext cx="3986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transfers (312 cases) and foreign transactions (272) account for 584 of 1,335 total fraud cases, 43.7% of all incidents, from just two transaction types.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331720"/>
            <a:ext cx="4224528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54864" cy="126187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8" name="Text 16"/>
          <p:cNvSpPr/>
          <p:nvPr/>
        </p:nvSpPr>
        <p:spPr>
          <a:xfrm>
            <a:off x="4873752" y="242316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is the most exploited device channel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73752" y="2715768"/>
            <a:ext cx="3986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fraud (548 cases) accounts for 41% of all device-based fraud, nearly double Web Browser (340). Digital channel hardening is a priority.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" y="3749040"/>
            <a:ext cx="4224528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1" name="Shape 19"/>
          <p:cNvSpPr/>
          <p:nvPr/>
        </p:nvSpPr>
        <p:spPr>
          <a:xfrm>
            <a:off x="256032" y="3749040"/>
            <a:ext cx="54864" cy="126187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2" name="Text 20"/>
          <p:cNvSpPr/>
          <p:nvPr/>
        </p:nvSpPr>
        <p:spPr>
          <a:xfrm>
            <a:off x="420624" y="384048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is nearly uniformly distributed across all times of day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0624" y="4133088"/>
            <a:ext cx="3986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(21.18%) and Afternoon (20.27%) are marginally higher, but all five time periods are within 2% of each other; fraud is not limited to off-hours.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749040"/>
            <a:ext cx="4224528" cy="126187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54864" cy="126187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4873752" y="3840480"/>
            <a:ext cx="3986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2025 recorded the highest monthly fraud spike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73752" y="4133088"/>
            <a:ext cx="3986784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declining steadily through mid-2024 to a low of 2.5%, the fraud rate jumped sharply to 4.0% in Jan 2025, signalling a potential new wave of fraud activity.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STRATEGIC ACTIONS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data-driven actions to reduce fraud exposure and protect customers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56032" y="822960"/>
            <a:ext cx="8631936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54864" cy="7132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9184" y="822960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9264" y="886968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senior-specific fraud protection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9264" y="1143000"/>
            <a:ext cx="7790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65+ customers experiencing fraud rates of 6.75%, nearly 3× the average, targeted interventions are urgent. Implement step-up authentication, real-time SMS alerts, and dedicated fraud education for this demographic.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618488"/>
            <a:ext cx="8631936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0" name="Shape 8"/>
          <p:cNvSpPr/>
          <p:nvPr/>
        </p:nvSpPr>
        <p:spPr>
          <a:xfrm>
            <a:off x="256032" y="1618488"/>
            <a:ext cx="54864" cy="71323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329184" y="1618488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9264" y="1682496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harden the 5 highest-risk branches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9264" y="1938528"/>
            <a:ext cx="7790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Salem, Nampa, Miami, Spokane, and Honolulu all show rates of 6.4%+. A branch-level audit should investigate staff practices, local transaction patterns, and physical security controls.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56032" y="2414016"/>
            <a:ext cx="8631936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Shape 13"/>
          <p:cNvSpPr/>
          <p:nvPr/>
        </p:nvSpPr>
        <p:spPr>
          <a:xfrm>
            <a:off x="256032" y="2414016"/>
            <a:ext cx="54864" cy="71323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16" name="Text 14"/>
          <p:cNvSpPr/>
          <p:nvPr/>
        </p:nvSpPr>
        <p:spPr>
          <a:xfrm>
            <a:off x="329184" y="2414016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9264" y="2478024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69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stricter controls on Wire Transfer &amp; Foreign Transactions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69264" y="2734056"/>
            <a:ext cx="7790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two categories alone represent 43.7% of all fraud. Introducing velocity checks, dual-authorisation for high-value wire transfers, and enhanced verification for foreign transactions would significantly reduce exposure.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6032" y="3209544"/>
            <a:ext cx="8631936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Shape 18"/>
          <p:cNvSpPr/>
          <p:nvPr/>
        </p:nvSpPr>
        <p:spPr>
          <a:xfrm>
            <a:off x="256032" y="3209544"/>
            <a:ext cx="54864" cy="71323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1" name="Text 19"/>
          <p:cNvSpPr/>
          <p:nvPr/>
        </p:nvSpPr>
        <p:spPr>
          <a:xfrm>
            <a:off x="329184" y="3209544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9264" y="3273552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Mobile App security as the primary attack surface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9264" y="3529584"/>
            <a:ext cx="7790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device-based fraud occurs on mobile. Investing in biometric authentication, device fingerprinting, and anomaly detection in the mobile channel is the single highest-impact technical control available.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56032" y="4005072"/>
            <a:ext cx="8631936" cy="713232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5" name="Shape 23"/>
          <p:cNvSpPr/>
          <p:nvPr/>
        </p:nvSpPr>
        <p:spPr>
          <a:xfrm>
            <a:off x="256032" y="4005072"/>
            <a:ext cx="54864" cy="713232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26" name="Text 24"/>
          <p:cNvSpPr/>
          <p:nvPr/>
        </p:nvSpPr>
        <p:spPr>
          <a:xfrm>
            <a:off x="329184" y="4005072"/>
            <a:ext cx="566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9264" y="4069080"/>
            <a:ext cx="7790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January 2025 spike immediately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9264" y="4325112"/>
            <a:ext cx="7790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sharp jump from 2.5% (Aug 2024) to 4.0% (Jan 2025) is a critical signal. A time-bounded forensic review of Jan 2025 transactions should identify whether this reflects a new fraud vector, an organised attack, or a data quality issue.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61B22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Analysis Report  ·  Jan 2023 – Jan 2025  ·  All Branches &amp; Transaction Types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804</Words>
  <Application>Microsoft Office PowerPoint</Application>
  <PresentationFormat>On-screen Show (16:9)</PresentationFormat>
  <Paragraphs>118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Analysis Dashboard</dc:title>
  <dc:subject>PptxGenJS Presentation</dc:subject>
  <dc:creator>PptxGenJS</dc:creator>
  <cp:lastModifiedBy>Keziah Ethel OBENG</cp:lastModifiedBy>
  <cp:revision>2</cp:revision>
  <dcterms:created xsi:type="dcterms:W3CDTF">2026-06-05T18:52:52Z</dcterms:created>
  <dcterms:modified xsi:type="dcterms:W3CDTF">2026-06-05T18:57:36Z</dcterms:modified>
</cp:coreProperties>
</file>